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Plus Jakarta Sans"/>
      <p:bold r:id="rId1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1258AE-F55E-4582-9DDA-F3E062CB5BA7}" v="2" dt="2026-09-20T10:00:52.0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533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fia Muhammadi" userId="648ab998d75d1d43" providerId="LiveId" clId="{4D554C1E-5562-4ECB-A5BC-F3C8EC006437}"/>
    <pc:docChg chg="modSld">
      <pc:chgData name="Rafia Muhammadi" userId="648ab998d75d1d43" providerId="LiveId" clId="{4D554C1E-5562-4ECB-A5BC-F3C8EC006437}" dt="2026-09-20T10:00:58.540" v="43" actId="14100"/>
      <pc:docMkLst>
        <pc:docMk/>
      </pc:docMkLst>
      <pc:sldChg chg="modSp mod">
        <pc:chgData name="Rafia Muhammadi" userId="648ab998d75d1d43" providerId="LiveId" clId="{4D554C1E-5562-4ECB-A5BC-F3C8EC006437}" dt="2026-09-20T10:00:58.540" v="43" actId="14100"/>
        <pc:sldMkLst>
          <pc:docMk/>
          <pc:sldMk cId="0" sldId="256"/>
        </pc:sldMkLst>
        <pc:spChg chg="mod">
          <ac:chgData name="Rafia Muhammadi" userId="648ab998d75d1d43" providerId="LiveId" clId="{4D554C1E-5562-4ECB-A5BC-F3C8EC006437}" dt="2026-09-20T09:56:11.312" v="40"/>
          <ac:spMkLst>
            <pc:docMk/>
            <pc:sldMk cId="0" sldId="256"/>
            <ac:spMk id="23" creationId="{00000000-0000-0000-0000-000000000000}"/>
          </ac:spMkLst>
        </pc:spChg>
        <pc:picChg chg="mod">
          <ac:chgData name="Rafia Muhammadi" userId="648ab998d75d1d43" providerId="LiveId" clId="{4D554C1E-5562-4ECB-A5BC-F3C8EC006437}" dt="2026-09-20T10:00:58.540" v="43" actId="14100"/>
          <ac:picMkLst>
            <pc:docMk/>
            <pc:sldMk cId="0" sldId="256"/>
            <ac:picMk id="13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17" Type="http://schemas.openxmlformats.org/officeDocument/2006/relationships/image" Target="../media/image41.png"/><Relationship Id="rId2" Type="http://schemas.openxmlformats.org/officeDocument/2006/relationships/image" Target="../media/image26.png"/><Relationship Id="rId16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5" Type="http://schemas.openxmlformats.org/officeDocument/2006/relationships/image" Target="../media/image3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10" Type="http://schemas.openxmlformats.org/officeDocument/2006/relationships/image" Target="../media/image54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19125" y="3356520"/>
            <a:ext cx="6035575" cy="733425"/>
          </a:xfrm>
          <a:prstGeom prst="roundRect">
            <a:avLst>
              <a:gd name="adj" fmla="val 1038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19125" y="5324326"/>
            <a:ext cx="6035575" cy="9525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19125" y="4080420"/>
            <a:ext cx="60355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19125" y="3356520"/>
            <a:ext cx="60355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19125" y="3356520"/>
            <a:ext cx="47625" cy="7334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645175" y="3356520"/>
            <a:ext cx="9525" cy="7334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19125" y="581025"/>
            <a:ext cx="2495550" cy="285750"/>
          </a:xfrm>
          <a:prstGeom prst="roundRect">
            <a:avLst>
              <a:gd name="adj" fmla="val 20000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209925" y="581025"/>
            <a:ext cx="1104900" cy="28575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19150" y="5743426"/>
            <a:ext cx="1962150" cy="352425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933700" y="5743426"/>
            <a:ext cx="1609725" cy="352425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900" y="762000"/>
            <a:ext cx="4460974" cy="53340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21425" y="809625"/>
            <a:ext cx="4441924" cy="52862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3747045"/>
            <a:ext cx="15240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075" y="5852963"/>
            <a:ext cx="114300" cy="1333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5625" y="5852963"/>
            <a:ext cx="114300" cy="1333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19125" y="1057275"/>
            <a:ext cx="7921693" cy="607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784"/>
              </a:lnSpc>
            </a:pPr>
            <a:r>
              <a:rPr sz="4350" b="1" i="0" u="none">
                <a:solidFill>
                  <a:srgbClr val="0F172A"/>
                </a:solidFill>
                <a:latin typeface="Plus Jakarta Sans"/>
              </a:rPr>
              <a:t>Rescu</a:t>
            </a:r>
            <a:r>
              <a:rPr sz="4350" b="1" i="0" u="none">
                <a:solidFill>
                  <a:srgbClr val="DC2626"/>
                </a:solidFill>
                <a:latin typeface="Plus Jakarta Sans"/>
              </a:rPr>
              <a:t>EZ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125" y="1817340"/>
            <a:ext cx="690562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1" i="0" u="none" dirty="0">
                <a:solidFill>
                  <a:srgbClr val="475569"/>
                </a:solidFill>
                <a:latin typeface="Plus Jakarta Sans"/>
              </a:rPr>
              <a:t>Emergency Assistance &amp; Rescue Coordination Web 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7250" y="3518445"/>
            <a:ext cx="699678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LIVE PROTOTYPE DEMO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150" y="5505301"/>
            <a:ext cx="704440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DC2626"/>
                </a:solidFill>
                <a:latin typeface="Plus Jakarta Sans"/>
              </a:rPr>
              <a:t>TEAM RESCUEZ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475" y="638175"/>
            <a:ext cx="23241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DC2626"/>
                </a:solidFill>
                <a:latin typeface="Plus Jakarta Sans"/>
              </a:rPr>
              <a:t>HACKATHON PROTOTYPE PITCH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43275" y="638175"/>
            <a:ext cx="9334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Plus Jakarta Sans"/>
              </a:rPr>
              <a:t>Web Platform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" y="3718470"/>
            <a:ext cx="2742226" cy="1962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IN" sz="1275" b="1" dirty="0">
                <a:solidFill>
                  <a:srgbClr val="0284C7"/>
                </a:solidFill>
                <a:latin typeface="Plus Jakarta Sans"/>
              </a:rPr>
              <a:t>https://rescuez.onrender.com/user.html</a:t>
            </a:r>
            <a:endParaRPr sz="1275" b="1" i="0" u="none" dirty="0">
              <a:solidFill>
                <a:srgbClr val="0284C7"/>
              </a:solidFill>
              <a:latin typeface="Plus Jakarta San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90625" y="5829151"/>
            <a:ext cx="178593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S. Rafia Muhammadi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05175" y="5829151"/>
            <a:ext cx="13620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J. Athif Ali Khan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19125" y="5829300"/>
            <a:ext cx="10953750" cy="561975"/>
          </a:xfrm>
          <a:prstGeom prst="roundRect">
            <a:avLst>
              <a:gd name="adj" fmla="val 10169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439400" y="466725"/>
            <a:ext cx="1133475" cy="285750"/>
          </a:xfrm>
          <a:prstGeom prst="roundRect">
            <a:avLst>
              <a:gd name="adj" fmla="val 20000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" y="2105025"/>
            <a:ext cx="10953750" cy="495300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" y="2714625"/>
            <a:ext cx="10953750" cy="495300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9125" y="3324225"/>
            <a:ext cx="10953750" cy="495300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9125" y="3933825"/>
            <a:ext cx="10953750" cy="495300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19125" y="4543425"/>
            <a:ext cx="10953750" cy="495300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9125" y="6381750"/>
            <a:ext cx="10953750" cy="9525"/>
          </a:xfrm>
          <a:prstGeom prst="rect">
            <a:avLst/>
          </a:prstGeom>
          <a:solidFill>
            <a:srgbClr val="FECA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125" y="5829300"/>
            <a:ext cx="10953750" cy="9525"/>
          </a:xfrm>
          <a:prstGeom prst="rect">
            <a:avLst/>
          </a:prstGeom>
          <a:solidFill>
            <a:srgbClr val="FECA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9125" y="5829300"/>
            <a:ext cx="57150" cy="56197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1563350" y="5829300"/>
            <a:ext cx="9525" cy="561975"/>
          </a:xfrm>
          <a:prstGeom prst="rect">
            <a:avLst/>
          </a:prstGeom>
          <a:solidFill>
            <a:srgbClr val="FECA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9125" y="2590800"/>
            <a:ext cx="10953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125" y="2105025"/>
            <a:ext cx="10953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9125" y="2105025"/>
            <a:ext cx="47625" cy="4953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563350" y="2105025"/>
            <a:ext cx="9525" cy="4953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9125" y="3200400"/>
            <a:ext cx="10953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9125" y="2714625"/>
            <a:ext cx="10953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9125" y="2714625"/>
            <a:ext cx="47625" cy="4953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1563350" y="2714625"/>
            <a:ext cx="9525" cy="4953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9125" y="3810000"/>
            <a:ext cx="10953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9125" y="3324225"/>
            <a:ext cx="10953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9125" y="3324225"/>
            <a:ext cx="47625" cy="4953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1563350" y="3324225"/>
            <a:ext cx="9525" cy="4953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9125" y="4419600"/>
            <a:ext cx="10953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9125" y="3933825"/>
            <a:ext cx="10953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9125" y="3933825"/>
            <a:ext cx="47625" cy="4953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1563350" y="3933825"/>
            <a:ext cx="9525" cy="4953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9125" y="5029200"/>
            <a:ext cx="10953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19125" y="4543425"/>
            <a:ext cx="10953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19125" y="4543425"/>
            <a:ext cx="47625" cy="4953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1563350" y="4543425"/>
            <a:ext cx="9525" cy="4953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2257425"/>
            <a:ext cx="266700" cy="1905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2867025"/>
            <a:ext cx="266700" cy="1905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3476625"/>
            <a:ext cx="266700" cy="1905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4086225"/>
            <a:ext cx="266700" cy="1905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4695825"/>
            <a:ext cx="266700" cy="1905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572750" y="523875"/>
            <a:ext cx="9620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DC2626"/>
                </a:solidFill>
                <a:latin typeface="Plus Jakarta Sans"/>
              </a:rPr>
              <a:t>RescuEZ Pitch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4875" y="5991225"/>
            <a:ext cx="6036468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B91C1C"/>
                </a:solidFill>
                <a:latin typeface="Plus Jakarta Sans"/>
              </a:rPr>
              <a:t>“Every second matters when someone needs help.”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01300" y="6034087"/>
            <a:ext cx="12192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7F1D1D"/>
                </a:solidFill>
                <a:latin typeface="Plus Jakarta Sans"/>
              </a:rPr>
              <a:t>Core Challenge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9125" y="466725"/>
            <a:ext cx="63817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Plus Jakarta Sans"/>
              </a:rPr>
              <a:t>SLIDE 1 — PROBLEM STATEMENT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9125" y="695325"/>
            <a:ext cx="6700837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Emergency Response Delays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76350" y="2247900"/>
            <a:ext cx="5655468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1E293B"/>
                </a:solidFill>
                <a:latin typeface="Plus Jakarta Sans"/>
              </a:rPr>
              <a:t>People may struggle to communicate during emergencies.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76350" y="2857500"/>
            <a:ext cx="571500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1E293B"/>
                </a:solidFill>
                <a:latin typeface="Plus Jakarta Sans"/>
              </a:rPr>
              <a:t>Emergency information can be incomplete or unstructured.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76350" y="3467100"/>
            <a:ext cx="3738562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1E293B"/>
                </a:solidFill>
                <a:latin typeface="Plus Jakarta Sans"/>
              </a:rPr>
              <a:t>Exact location is critical for assistance.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76350" y="4076700"/>
            <a:ext cx="7548562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1E293B"/>
                </a:solidFill>
                <a:latin typeface="Plus Jakarta Sans"/>
              </a:rPr>
              <a:t>Responders need organized information to understand and prioritize incidents.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76350" y="4686300"/>
            <a:ext cx="6012656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1E293B"/>
                </a:solidFill>
                <a:latin typeface="Plus Jakarta Sans"/>
              </a:rPr>
              <a:t>Coordination between victims and responders can be difficult.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9125" y="428625"/>
            <a:ext cx="10953750" cy="9715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19125" y="4683025"/>
            <a:ext cx="10953750" cy="676275"/>
          </a:xfrm>
          <a:prstGeom prst="roundRect">
            <a:avLst>
              <a:gd name="adj" fmla="val 11267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" y="6114901"/>
            <a:ext cx="10953750" cy="314325"/>
          </a:xfrm>
          <a:prstGeom prst="roundRect">
            <a:avLst>
              <a:gd name="adj" fmla="val 12121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19125" y="1381125"/>
            <a:ext cx="1095375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9125" y="3546425"/>
            <a:ext cx="10953750" cy="3810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19125" y="6419701"/>
            <a:ext cx="10953750" cy="9525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19125" y="6114901"/>
            <a:ext cx="10953750" cy="9525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9125" y="6114901"/>
            <a:ext cx="38100" cy="3143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563350" y="6114901"/>
            <a:ext cx="9525" cy="314325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9125" y="2403425"/>
            <a:ext cx="3575000" cy="466725"/>
          </a:xfrm>
          <a:prstGeom prst="roundRect">
            <a:avLst>
              <a:gd name="adj" fmla="val 163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308425" y="2403425"/>
            <a:ext cx="3575000" cy="466725"/>
          </a:xfrm>
          <a:prstGeom prst="roundRect">
            <a:avLst>
              <a:gd name="adj" fmla="val 163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997725" y="2403425"/>
            <a:ext cx="3575149" cy="466725"/>
          </a:xfrm>
          <a:prstGeom prst="roundRect">
            <a:avLst>
              <a:gd name="adj" fmla="val 163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19125" y="2984450"/>
            <a:ext cx="3575000" cy="466725"/>
          </a:xfrm>
          <a:prstGeom prst="roundRect">
            <a:avLst>
              <a:gd name="adj" fmla="val 163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308425" y="2984450"/>
            <a:ext cx="3575000" cy="466725"/>
          </a:xfrm>
          <a:prstGeom prst="roundRect">
            <a:avLst>
              <a:gd name="adj" fmla="val 163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997725" y="2984450"/>
            <a:ext cx="3575149" cy="466725"/>
          </a:xfrm>
          <a:prstGeom prst="roundRect">
            <a:avLst>
              <a:gd name="adj" fmla="val 163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50" y="3660725"/>
            <a:ext cx="19050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8362" y="5064025"/>
            <a:ext cx="114300" cy="1333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2912" y="5064025"/>
            <a:ext cx="114300" cy="1333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0837" y="5064025"/>
            <a:ext cx="114300" cy="1333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0187" y="5064025"/>
            <a:ext cx="114300" cy="1333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050" y="2551062"/>
            <a:ext cx="152400" cy="1714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0350" y="2551062"/>
            <a:ext cx="171450" cy="1714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9650" y="2551062"/>
            <a:ext cx="171450" cy="1714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050" y="3132087"/>
            <a:ext cx="219075" cy="1714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70350" y="3132087"/>
            <a:ext cx="190500" cy="1714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59650" y="3132087"/>
            <a:ext cx="190500" cy="1714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19125" y="428625"/>
            <a:ext cx="115728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SLIDE 2 — PROPOSED SOLUTION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9125" y="638175"/>
            <a:ext cx="11572875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RescuEZ — Smart Emergency Assistance Platform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9125" y="1085850"/>
            <a:ext cx="115728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A web-based emergency assistance platform bridging victims and coordination channels.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9125" y="2155775"/>
            <a:ext cx="115728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34155"/>
                </a:solidFill>
                <a:latin typeface="Plus Jakarta Sans"/>
              </a:rPr>
              <a:t>MAIN PROTOTYPE FEATURES: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9150" y="4825900"/>
            <a:ext cx="113728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E40AF"/>
                </a:solidFill>
                <a:latin typeface="Plus Jakarta Sans"/>
              </a:rPr>
              <a:t>SIMPLE VISUAL WORKFLOW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625" y="6200626"/>
            <a:ext cx="113823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2400E"/>
                </a:solidFill>
                <a:latin typeface="Plus Jakarta Sans"/>
              </a:rPr>
              <a:t>Prototype Scope:</a:t>
            </a:r>
            <a:r>
              <a:rPr sz="900" b="0" i="0" u="none">
                <a:solidFill>
                  <a:srgbClr val="92400E"/>
                </a:solidFill>
                <a:latin typeface="Plus Jakarta Sans"/>
              </a:rPr>
              <a:t> Focuses on reporting and coordination layer; does not directly dispatch real police, ambulances, or municipal rescue teams.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5850" y="3651200"/>
            <a:ext cx="28336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Plus Jakarta Sans"/>
              </a:rPr>
              <a:t>Responder / Volunteer Registration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72625" y="3665487"/>
            <a:ext cx="229790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(Enables local assistance signups)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9150" y="5044975"/>
            <a:ext cx="10287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Plus Jakarta Sans"/>
              </a:rPr>
              <a:t>Emergency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28925" y="5044975"/>
            <a:ext cx="11334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Plus Jakarta Sans"/>
              </a:rPr>
              <a:t>SOS Request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43475" y="5044975"/>
            <a:ext cx="14763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Plus Jakarta Sans"/>
              </a:rPr>
              <a:t>Location &amp; Details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91400" y="5044975"/>
            <a:ext cx="144065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Plus Jakarta Sans"/>
              </a:rPr>
              <a:t>Command Center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10750" y="5044975"/>
            <a:ext cx="19526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6A34A"/>
                </a:solidFill>
                <a:latin typeface="Plus Jakarta Sans"/>
              </a:rPr>
              <a:t>Coordinated Assistance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7750" y="2546300"/>
            <a:ext cx="21907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293B"/>
                </a:solidFill>
                <a:latin typeface="Plus Jakarta Sans"/>
              </a:rPr>
              <a:t>SOS Emergency Request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6100" y="2546300"/>
            <a:ext cx="326231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293B"/>
                </a:solidFill>
                <a:latin typeface="Plus Jakarta Sans"/>
              </a:rPr>
              <a:t>Emergency Type &amp; Severity Selection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45400" y="2546300"/>
            <a:ext cx="239315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293B"/>
                </a:solidFill>
                <a:latin typeface="Plus Jakarta Sans"/>
              </a:rPr>
              <a:t>Location / GPS Information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4425" y="3127325"/>
            <a:ext cx="240506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293B"/>
                </a:solidFill>
                <a:latin typeface="Plus Jakarta Sans"/>
              </a:rPr>
              <a:t>Number of People Affected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75150" y="3127325"/>
            <a:ext cx="320278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293B"/>
                </a:solidFill>
                <a:latin typeface="Plus Jakarta Sans"/>
              </a:rPr>
              <a:t>Immediate Assistance Requirements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64450" y="3127325"/>
            <a:ext cx="28575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293B"/>
                </a:solidFill>
                <a:latin typeface="Plus Jakarta Sans"/>
              </a:rPr>
              <a:t>Command-Center Coordination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9125" y="466725"/>
            <a:ext cx="10953750" cy="8286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19125" y="5962650"/>
            <a:ext cx="10953750" cy="428625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19125" y="1276350"/>
            <a:ext cx="1095375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" y="2105025"/>
            <a:ext cx="2624137" cy="3048000"/>
          </a:xfrm>
          <a:prstGeom prst="roundRect">
            <a:avLst>
              <a:gd name="adj" fmla="val 290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395662" y="2105025"/>
            <a:ext cx="2624137" cy="3048000"/>
          </a:xfrm>
          <a:prstGeom prst="roundRect">
            <a:avLst>
              <a:gd name="adj" fmla="val 290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72200" y="2105025"/>
            <a:ext cx="2624137" cy="3048000"/>
          </a:xfrm>
          <a:prstGeom prst="roundRect">
            <a:avLst>
              <a:gd name="adj" fmla="val 290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948737" y="2105025"/>
            <a:ext cx="2624137" cy="3048000"/>
          </a:xfrm>
          <a:prstGeom prst="roundRect">
            <a:avLst>
              <a:gd name="adj" fmla="val 290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9125" y="5143500"/>
            <a:ext cx="26241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125" y="2105025"/>
            <a:ext cx="2624137" cy="4762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9125" y="2105025"/>
            <a:ext cx="9525" cy="3048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33737" y="2105025"/>
            <a:ext cx="9525" cy="3048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00100" y="4695825"/>
            <a:ext cx="2262187" cy="219075"/>
          </a:xfrm>
          <a:prstGeom prst="roundRect">
            <a:avLst>
              <a:gd name="adj" fmla="val 17391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95662" y="5143500"/>
            <a:ext cx="26241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95662" y="2105025"/>
            <a:ext cx="2624137" cy="4762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395662" y="2105025"/>
            <a:ext cx="9525" cy="3048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10275" y="2105025"/>
            <a:ext cx="9525" cy="3048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576637" y="4695825"/>
            <a:ext cx="2262187" cy="219075"/>
          </a:xfrm>
          <a:prstGeom prst="roundRect">
            <a:avLst>
              <a:gd name="adj" fmla="val 17391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72200" y="5143500"/>
            <a:ext cx="26241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72200" y="2105025"/>
            <a:ext cx="2624137" cy="476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72200" y="2105025"/>
            <a:ext cx="9525" cy="3048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786812" y="2105025"/>
            <a:ext cx="9525" cy="3048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353175" y="4695825"/>
            <a:ext cx="2262187" cy="219075"/>
          </a:xfrm>
          <a:prstGeom prst="roundRect">
            <a:avLst>
              <a:gd name="adj" fmla="val 17391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948737" y="5143500"/>
            <a:ext cx="26241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948737" y="2105025"/>
            <a:ext cx="2624137" cy="47625"/>
          </a:xfrm>
          <a:prstGeom prst="rect">
            <a:avLst/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948737" y="2105025"/>
            <a:ext cx="9525" cy="3048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1563350" y="2105025"/>
            <a:ext cx="9525" cy="3048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129712" y="4695825"/>
            <a:ext cx="2262187" cy="219075"/>
          </a:xfrm>
          <a:prstGeom prst="roundRect">
            <a:avLst>
              <a:gd name="adj" fmla="val 17391"/>
            </a:avLst>
          </a:prstGeom>
          <a:solidFill>
            <a:srgbClr val="F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6393" y="2381250"/>
            <a:ext cx="609600" cy="6096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2931" y="2381250"/>
            <a:ext cx="609600" cy="6096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9468" y="2381250"/>
            <a:ext cx="609600" cy="6096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6006" y="2381250"/>
            <a:ext cx="609600" cy="6096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4031" y="2562225"/>
            <a:ext cx="314325" cy="24765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9618" y="2562225"/>
            <a:ext cx="276225" cy="24765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60443" y="2562225"/>
            <a:ext cx="247650" cy="24765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65556" y="2562225"/>
            <a:ext cx="190500" cy="24765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-279796" y="6076950"/>
            <a:ext cx="12751593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475569"/>
                </a:solidFill>
                <a:latin typeface="Plus Jakarta Sans"/>
              </a:rPr>
              <a:t> A unified interface serving victims, volunteers, management teams, and institutions.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9125" y="466725"/>
            <a:ext cx="115728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Plus Jakarta Sans"/>
              </a:rPr>
              <a:t>SLIDE 3 — TARGET USERS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9125" y="695325"/>
            <a:ext cx="11572875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Who Is RescuEZ For?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3526" y="4733925"/>
            <a:ext cx="2675334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DC2626"/>
                </a:solidFill>
                <a:latin typeface="Plus Jakarta Sans"/>
              </a:rPr>
              <a:t>Direct Alert Access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70064" y="4733925"/>
            <a:ext cx="2675334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16A34A"/>
                </a:solidFill>
                <a:latin typeface="Plus Jakarta Sans"/>
              </a:rPr>
              <a:t>Registered Support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46601" y="4733925"/>
            <a:ext cx="2675334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284C7"/>
                </a:solidFill>
                <a:latin typeface="Plus Jakarta Sans"/>
              </a:rPr>
              <a:t>Central Coordination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23139" y="4733925"/>
            <a:ext cx="2675334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9333EA"/>
                </a:solidFill>
                <a:latin typeface="Plus Jakarta Sans"/>
              </a:rPr>
              <a:t>Safety Infrastructure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6633" y="3162300"/>
            <a:ext cx="296912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Victims / Users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7326" y="3495675"/>
            <a:ext cx="2827734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31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People who need emergency assistance.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23170" y="3162300"/>
            <a:ext cx="296912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Responders &amp; Volunteers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93864" y="3495675"/>
            <a:ext cx="2827734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31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People who can provide or coordinate assistance.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99708" y="3162300"/>
            <a:ext cx="296912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Command Centers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70401" y="3495675"/>
            <a:ext cx="2827734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31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Authorized organizations managing emergency requests.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76245" y="3162300"/>
            <a:ext cx="296912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Institutions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46939" y="3495675"/>
            <a:ext cx="2827734" cy="828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31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Colleges, workplaces, communities and organizations requiring emergency coordination.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9125" y="428625"/>
            <a:ext cx="10953750" cy="7524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19125" y="4867275"/>
            <a:ext cx="10953750" cy="1562100"/>
          </a:xfrm>
          <a:prstGeom prst="roundRect">
            <a:avLst>
              <a:gd name="adj" fmla="val 487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19125" y="1162050"/>
            <a:ext cx="1095375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" y="2776537"/>
            <a:ext cx="1603325" cy="742950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489150" y="2776537"/>
            <a:ext cx="1603325" cy="742950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359175" y="2776537"/>
            <a:ext cx="1603325" cy="742950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29201" y="2776537"/>
            <a:ext cx="1603325" cy="742950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099226" y="2776537"/>
            <a:ext cx="1603325" cy="742950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969251" y="2776537"/>
            <a:ext cx="1603325" cy="742950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57250" y="5353050"/>
            <a:ext cx="2533650" cy="381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505200" y="5353050"/>
            <a:ext cx="2533650" cy="381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153150" y="5353050"/>
            <a:ext cx="2533650" cy="381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801100" y="5353050"/>
            <a:ext cx="2533650" cy="381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57250" y="5848350"/>
            <a:ext cx="2533650" cy="381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505200" y="5848350"/>
            <a:ext cx="2533650" cy="381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153150" y="5848350"/>
            <a:ext cx="2533650" cy="381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801100" y="5848350"/>
            <a:ext cx="2533650" cy="381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8650" y="3081337"/>
            <a:ext cx="114300" cy="1333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8675" y="3081337"/>
            <a:ext cx="114300" cy="1333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8701" y="3081337"/>
            <a:ext cx="114300" cy="1333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8726" y="3081337"/>
            <a:ext cx="114300" cy="1333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8751" y="3081337"/>
            <a:ext cx="114300" cy="1333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463" y="2938462"/>
            <a:ext cx="190500" cy="1905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5488" y="2938462"/>
            <a:ext cx="190500" cy="1905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1226" y="2938462"/>
            <a:ext cx="219075" cy="1905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35539" y="2938462"/>
            <a:ext cx="190500" cy="1905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91277" y="2938462"/>
            <a:ext cx="219075" cy="1905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51777" y="2938462"/>
            <a:ext cx="238125" cy="1905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0125" y="5457825"/>
            <a:ext cx="133350" cy="1714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48075" y="5457825"/>
            <a:ext cx="133350" cy="1714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96025" y="5457825"/>
            <a:ext cx="152400" cy="17145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43975" y="5457825"/>
            <a:ext cx="171450" cy="17145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00125" y="5953125"/>
            <a:ext cx="171450" cy="17145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648075" y="5953125"/>
            <a:ext cx="190500" cy="17145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96025" y="5953125"/>
            <a:ext cx="219075" cy="17145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943975" y="5953125"/>
            <a:ext cx="219075" cy="17145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19125" y="428625"/>
            <a:ext cx="115728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6A34A"/>
                </a:solidFill>
                <a:latin typeface="Plus Jakarta Sans"/>
              </a:rPr>
              <a:t>SLIDE 4 — TECHNICAL APPROACH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9125" y="638175"/>
            <a:ext cx="11572875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How RescuEZ Works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9125" y="2528887"/>
            <a:ext cx="115728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475569"/>
                </a:solidFill>
                <a:latin typeface="Plus Jakarta Sans"/>
              </a:rPr>
              <a:t>SYSTEM ARCHITECTURE: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7250" y="5067300"/>
            <a:ext cx="113347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34155"/>
                </a:solidFill>
                <a:latin typeface="Plus Jakarta Sans"/>
              </a:rPr>
              <a:t>TECHNOLOGIES USED IN THE PROTOTYPE: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9678" y="3186112"/>
            <a:ext cx="1742219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F172A"/>
                </a:solidFill>
                <a:latin typeface="Plus Jakarta Sans"/>
              </a:rPr>
              <a:t>User Interface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19703" y="3186112"/>
            <a:ext cx="1742219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F172A"/>
                </a:solidFill>
                <a:latin typeface="Plus Jakarta Sans"/>
              </a:rPr>
              <a:t>Emergency Request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89728" y="3186112"/>
            <a:ext cx="1742219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F172A"/>
                </a:solidFill>
                <a:latin typeface="Plus Jakarta Sans"/>
              </a:rPr>
              <a:t>Location + Details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59754" y="3186112"/>
            <a:ext cx="1742219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F172A"/>
                </a:solidFill>
                <a:latin typeface="Plus Jakarta Sans"/>
              </a:rPr>
              <a:t>Backend / Database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29779" y="3186112"/>
            <a:ext cx="1742219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F172A"/>
                </a:solidFill>
                <a:latin typeface="Plus Jakarta Sans"/>
              </a:rPr>
              <a:t>Command Center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99805" y="3186112"/>
            <a:ext cx="1742219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F172A"/>
                </a:solidFill>
                <a:latin typeface="Plus Jakarta Sans"/>
              </a:rPr>
              <a:t>Responder Coord.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28725" y="5457825"/>
            <a:ext cx="6381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Plus Jakarta Sans"/>
              </a:rPr>
              <a:t>HTML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76675" y="5457825"/>
            <a:ext cx="5619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Plus Jakarta Sans"/>
              </a:rPr>
              <a:t>CSS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43675" y="5457825"/>
            <a:ext cx="9429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Plus Jakarta Sans"/>
              </a:rPr>
              <a:t>JavaScript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0675" y="5457825"/>
            <a:ext cx="173831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Plus Jakarta Sans"/>
              </a:rPr>
              <a:t>Web-based interface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66825" y="5953125"/>
            <a:ext cx="17621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Plus Jakarta Sans"/>
              </a:rPr>
              <a:t>GPS/location services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33825" y="5953125"/>
            <a:ext cx="20955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Plus Jakarta Sans"/>
              </a:rPr>
              <a:t>Map/location functionality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10350" y="5953125"/>
            <a:ext cx="11811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Plus Jakarta Sans"/>
              </a:rPr>
              <a:t>Backend / API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58300" y="5953125"/>
            <a:ext cx="148828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Plus Jakarta Sans"/>
              </a:rPr>
              <a:t>Cloud deployment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9125" y="466725"/>
            <a:ext cx="10953750" cy="8286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19125" y="5848350"/>
            <a:ext cx="10953750" cy="542925"/>
          </a:xfrm>
          <a:prstGeom prst="roundRect">
            <a:avLst>
              <a:gd name="adj" fmla="val 10526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19125" y="1276350"/>
            <a:ext cx="1095375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" y="2419350"/>
            <a:ext cx="5362575" cy="2305050"/>
          </a:xfrm>
          <a:prstGeom prst="roundRect">
            <a:avLst>
              <a:gd name="adj" fmla="val 33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10300" y="2419350"/>
            <a:ext cx="5362575" cy="2305050"/>
          </a:xfrm>
          <a:prstGeom prst="roundRect">
            <a:avLst>
              <a:gd name="adj" fmla="val 33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19125" y="6381750"/>
            <a:ext cx="10953750" cy="9525"/>
          </a:xfrm>
          <a:prstGeom prst="rect">
            <a:avLst/>
          </a:prstGeom>
          <a:solidFill>
            <a:srgbClr val="BBF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19125" y="5848350"/>
            <a:ext cx="10953750" cy="9525"/>
          </a:xfrm>
          <a:prstGeom prst="rect">
            <a:avLst/>
          </a:prstGeom>
          <a:solidFill>
            <a:srgbClr val="BBF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9125" y="5848350"/>
            <a:ext cx="57150" cy="54292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563350" y="5848350"/>
            <a:ext cx="9525" cy="542925"/>
          </a:xfrm>
          <a:prstGeom prst="rect">
            <a:avLst/>
          </a:prstGeom>
          <a:solidFill>
            <a:srgbClr val="BBF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2681287"/>
            <a:ext cx="219075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425" y="2681287"/>
            <a:ext cx="171450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3057525"/>
            <a:ext cx="114300" cy="1428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3371850"/>
            <a:ext cx="114300" cy="1428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3686175"/>
            <a:ext cx="114300" cy="1428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000500"/>
            <a:ext cx="114300" cy="1428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314825"/>
            <a:ext cx="114300" cy="1428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8425" y="3057525"/>
            <a:ext cx="152400" cy="1428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8425" y="3390900"/>
            <a:ext cx="152400" cy="1428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8425" y="3724275"/>
            <a:ext cx="152400" cy="1428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8425" y="4057650"/>
            <a:ext cx="152400" cy="14287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19125" y="466725"/>
            <a:ext cx="115728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SLIDE 5 — MARKET &amp; BUSINESS POTENTIAL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125" y="695325"/>
            <a:ext cx="11572875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From Prototype to Real-World Impact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4875" y="6010275"/>
            <a:ext cx="112871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4532D"/>
                </a:solidFill>
                <a:latin typeface="Plus Jakarta Sans"/>
              </a:rPr>
              <a:t>“A scalable platform for structured emergency reporting and coordination.”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1575" y="2657475"/>
            <a:ext cx="6083260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Potential Users / Customers: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15125" y="2657475"/>
            <a:ext cx="5476875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Possible Business Models: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5850" y="3028950"/>
            <a:ext cx="5879306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Plus Jakarta Sans"/>
              </a:rPr>
              <a:t>Educational institutions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5850" y="3343275"/>
            <a:ext cx="5879306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Plus Jakarta Sans"/>
              </a:rPr>
              <a:t>Companies and workplaces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5850" y="3657600"/>
            <a:ext cx="5879306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Plus Jakarta Sans"/>
              </a:rPr>
              <a:t>Residential communities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5850" y="3971925"/>
            <a:ext cx="5879306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Plus Jakarta Sans"/>
              </a:rPr>
              <a:t>NGOs and volunteer organizations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5850" y="4286250"/>
            <a:ext cx="5879306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Plus Jakarta Sans"/>
              </a:rPr>
              <a:t>Disaster-management organizations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15125" y="3028950"/>
            <a:ext cx="5476875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Plus Jakarta Sans"/>
              </a:rPr>
              <a:t>Institutional subscription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15125" y="3362325"/>
            <a:ext cx="5476875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Plus Jakarta Sans"/>
              </a:rPr>
              <a:t>Customized emergency-management solutions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15125" y="3695700"/>
            <a:ext cx="5476875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Plus Jakarta Sans"/>
              </a:rPr>
              <a:t>Partnerships with organizations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15125" y="4029075"/>
            <a:ext cx="5476875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Plus Jakarta Sans"/>
              </a:rPr>
              <a:t>Enterprise safety solutions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9125" y="428625"/>
            <a:ext cx="10953750" cy="7524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19125" y="5686425"/>
            <a:ext cx="10953750" cy="742950"/>
          </a:xfrm>
          <a:prstGeom prst="roundRect">
            <a:avLst>
              <a:gd name="adj" fmla="val 10256"/>
            </a:avLst>
          </a:prstGeom>
          <a:solidFill>
            <a:srgbClr val="FAF5FF"/>
          </a:solidFill>
          <a:ln w="9525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19125" y="1162050"/>
            <a:ext cx="1095375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" y="2776537"/>
            <a:ext cx="2652712" cy="72390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386137" y="2776537"/>
            <a:ext cx="2652712" cy="72390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53150" y="2776537"/>
            <a:ext cx="2652712" cy="72390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920162" y="2776537"/>
            <a:ext cx="2652712" cy="72390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19125" y="3614737"/>
            <a:ext cx="2652712" cy="72390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386137" y="3614737"/>
            <a:ext cx="2652712" cy="72390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53150" y="3614737"/>
            <a:ext cx="2652712" cy="72390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920162" y="3614737"/>
            <a:ext cx="2652712" cy="72390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7700" y="6105525"/>
            <a:ext cx="123825" cy="1428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576" y="6105525"/>
            <a:ext cx="123825" cy="1428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5201" y="6105525"/>
            <a:ext cx="123825" cy="1428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043" y="2919412"/>
            <a:ext cx="142875" cy="1905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243" y="2919412"/>
            <a:ext cx="190500" cy="1905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9968" y="2919412"/>
            <a:ext cx="219075" cy="1905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1268" y="2919412"/>
            <a:ext cx="190500" cy="1905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6418" y="3757612"/>
            <a:ext cx="238125" cy="1905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93431" y="3757612"/>
            <a:ext cx="238125" cy="1905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69968" y="3757612"/>
            <a:ext cx="219075" cy="1905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51268" y="3757612"/>
            <a:ext cx="190500" cy="1905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19125" y="428625"/>
            <a:ext cx="115728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333EA"/>
                </a:solidFill>
                <a:latin typeface="Plus Jakarta Sans"/>
              </a:rPr>
              <a:t>SLIDE 6 — SCALABILITY &amp; FUTURE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125" y="638175"/>
            <a:ext cx="11572875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Scaling RescuEZ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125" y="2528887"/>
            <a:ext cx="115728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475569"/>
                </a:solidFill>
                <a:latin typeface="Plus Jakarta Sans"/>
              </a:rPr>
              <a:t>HOW THE PROTOTYPE CAN EVOLVE: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7250" y="5848350"/>
            <a:ext cx="113347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B21A8"/>
                </a:solidFill>
                <a:latin typeface="Plus Jakarta Sans"/>
              </a:rPr>
              <a:t>VISUAL PROGRESSION: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7250" y="6086475"/>
            <a:ext cx="10096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4B5563"/>
                </a:solidFill>
                <a:latin typeface="Plus Jakarta Sans"/>
              </a:rPr>
              <a:t>Prototype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78075" y="6086475"/>
            <a:ext cx="14097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284C7"/>
                </a:solidFill>
                <a:latin typeface="Plus Jakarta Sans"/>
              </a:rPr>
              <a:t>Mobile Platform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98951" y="6086475"/>
            <a:ext cx="17621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6A34A"/>
                </a:solidFill>
                <a:latin typeface="Plus Jakarta Sans"/>
              </a:rPr>
              <a:t>Responder Network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05577" y="6086475"/>
            <a:ext cx="303609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9333EA"/>
                </a:solidFill>
                <a:latin typeface="Plus Jakarta Sans"/>
              </a:rPr>
              <a:t>Connected Emergency Ecosystem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129" y="3186112"/>
            <a:ext cx="295870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1E293B"/>
                </a:solidFill>
                <a:latin typeface="Plus Jakarta Sans"/>
              </a:rPr>
              <a:t>Android/iOS mobile application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33142" y="3186112"/>
            <a:ext cx="295870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1E293B"/>
                </a:solidFill>
                <a:latin typeface="Plus Jakarta Sans"/>
              </a:rPr>
              <a:t>Real-time emergency tracking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00154" y="3186112"/>
            <a:ext cx="295870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1E293B"/>
                </a:solidFill>
                <a:latin typeface="Plus Jakarta Sans"/>
              </a:rPr>
              <a:t>Advanced command dashboard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67167" y="3186112"/>
            <a:ext cx="295870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1E293B"/>
                </a:solidFill>
                <a:latin typeface="Plus Jakarta Sans"/>
              </a:rPr>
              <a:t>Push/SMS notifications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129" y="4024312"/>
            <a:ext cx="295870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1E293B"/>
                </a:solidFill>
                <a:latin typeface="Plus Jakarta Sans"/>
              </a:rPr>
              <a:t>Multi-language support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33142" y="4024312"/>
            <a:ext cx="295870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1E293B"/>
                </a:solidFill>
                <a:latin typeface="Plus Jakarta Sans"/>
              </a:rPr>
              <a:t>AI-assisted classification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00154" y="4024312"/>
            <a:ext cx="295870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1E293B"/>
                </a:solidFill>
                <a:latin typeface="Plus Jakarta Sans"/>
              </a:rPr>
              <a:t>Hospital &amp; responder integration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67167" y="4024312"/>
            <a:ext cx="295870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1E293B"/>
                </a:solidFill>
                <a:latin typeface="Plus Jakarta Sans"/>
              </a:rPr>
              <a:t>Emergency analytics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9125" y="428625"/>
            <a:ext cx="10953750" cy="7524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19125" y="5791200"/>
            <a:ext cx="10953750" cy="638175"/>
          </a:xfrm>
          <a:prstGeom prst="roundRect">
            <a:avLst>
              <a:gd name="adj" fmla="val 895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19125" y="1162050"/>
            <a:ext cx="1095375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" y="2271712"/>
            <a:ext cx="10953750" cy="409575"/>
          </a:xfrm>
          <a:prstGeom prst="roundRect">
            <a:avLst>
              <a:gd name="adj" fmla="val 139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9125" y="2776537"/>
            <a:ext cx="10953750" cy="409575"/>
          </a:xfrm>
          <a:prstGeom prst="roundRect">
            <a:avLst>
              <a:gd name="adj" fmla="val 139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9125" y="3281362"/>
            <a:ext cx="10953750" cy="409575"/>
          </a:xfrm>
          <a:prstGeom prst="roundRect">
            <a:avLst>
              <a:gd name="adj" fmla="val 139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19125" y="3786187"/>
            <a:ext cx="10953750" cy="409575"/>
          </a:xfrm>
          <a:prstGeom prst="roundRect">
            <a:avLst>
              <a:gd name="adj" fmla="val 139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19125" y="4291012"/>
            <a:ext cx="10953750" cy="409575"/>
          </a:xfrm>
          <a:prstGeom prst="roundRect">
            <a:avLst>
              <a:gd name="adj" fmla="val 139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125" y="6419850"/>
            <a:ext cx="10953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9125" y="5791200"/>
            <a:ext cx="10953750" cy="2857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9125" y="5791200"/>
            <a:ext cx="9525" cy="6381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1563350" y="5791200"/>
            <a:ext cx="9525" cy="6381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9125" y="428625"/>
            <a:ext cx="115728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Plus Jakarta Sans"/>
              </a:rPr>
              <a:t>SLIDE 7 — IF WE HAD MORE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125" y="638175"/>
            <a:ext cx="11572875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What Would We Build Next?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" y="2376487"/>
            <a:ext cx="6667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DC2626"/>
                </a:solidFill>
                <a:latin typeface="Plus Jakarta Sans"/>
              </a:rPr>
              <a:t>1.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" y="2881312"/>
            <a:ext cx="6667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Plus Jakarta Sans"/>
              </a:rPr>
              <a:t>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" y="3386137"/>
            <a:ext cx="6667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9333EA"/>
                </a:solidFill>
                <a:latin typeface="Plus Jakarta Sans"/>
              </a:rPr>
              <a:t>3.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" y="3890962"/>
            <a:ext cx="6667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4.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" y="4395787"/>
            <a:ext cx="6667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6A34A"/>
                </a:solidFill>
                <a:latin typeface="Plus Jakarta Sans"/>
              </a:rPr>
              <a:t>5.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250" y="6005512"/>
            <a:ext cx="7655718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“RescuEZ — Connecting emergency information with coordinated assistance.”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2468" y="5953125"/>
            <a:ext cx="301228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1" i="0" u="none">
                <a:solidFill>
                  <a:srgbClr val="DC2626"/>
                </a:solidFill>
                <a:latin typeface="Plus Jakarta Sans"/>
              </a:rPr>
              <a:t>TEAM RESCUEZ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2468" y="6115050"/>
            <a:ext cx="301228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050" b="1" i="0" u="none">
                <a:solidFill>
                  <a:srgbClr val="1E293B"/>
                </a:solidFill>
                <a:latin typeface="Plus Jakarta Sans"/>
              </a:rPr>
              <a:t>S. Rafia Muhammadi  |  J. Athif Ali Khan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1100" y="2376487"/>
            <a:ext cx="331291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Real-Time Responder Dashboard: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19525" y="2386012"/>
            <a:ext cx="340518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Manage and track emergency requests.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1100" y="2881312"/>
            <a:ext cx="19002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Mobile Application: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2890837"/>
            <a:ext cx="345281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Faster SOS access and location sharing.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1100" y="3386137"/>
            <a:ext cx="138017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AI Assistance: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24100" y="3395662"/>
            <a:ext cx="489346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Help classify and prioritize incoming emergency requests.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1100" y="3890962"/>
            <a:ext cx="302537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SMS/Offline Emergency Mode: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00450" y="3900487"/>
            <a:ext cx="50006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Improve reliability when internet connectivity is unavailable.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1100" y="4395787"/>
            <a:ext cx="322540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Verified Emergency Partnerships: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52850" y="4405312"/>
            <a:ext cx="531018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Connect the platform with authorized response organizations.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528</Words>
  <Application>Microsoft Office PowerPoint</Application>
  <PresentationFormat>Widescreen</PresentationFormat>
  <Paragraphs>121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Plus Jakarta Sans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Rafia Muhammadi</dc:creator>
  <cp:keywords/>
  <dc:description>generated using python-pptx</dc:description>
  <cp:lastModifiedBy>Rafia Muhammadi</cp:lastModifiedBy>
  <cp:revision>3</cp:revision>
  <dcterms:created xsi:type="dcterms:W3CDTF">2013-01-27T09:14:16Z</dcterms:created>
  <dcterms:modified xsi:type="dcterms:W3CDTF">2026-09-20T10:01:24Z</dcterms:modified>
  <cp:category/>
</cp:coreProperties>
</file>